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Barlow Condensed Bold" panose="020B0604020202020204" charset="0"/>
      <p:regular r:id="rId11"/>
    </p:embeddedFont>
    <p:embeddedFont>
      <p:font typeface="IBM Plex Mono Medium" panose="020B0609050203000203" pitchFamily="49" charset="0"/>
      <p:regular r:id="rId12"/>
    </p:embeddedFont>
    <p:embeddedFont>
      <p:font typeface="Source Sans 3" panose="020B0604020202020204" charset="0"/>
      <p:regular r:id="rId13"/>
    </p:embeddedFont>
    <p:embeddedFont>
      <p:font typeface="Source Sans 3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849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F8F5EE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542131"/>
            <a:ext cx="116075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00000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ISTANBUL RETAIL · 2021–2023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4185" y="1373830"/>
            <a:ext cx="11023324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600" b="1" kern="100" spc="-132" dirty="0">
                <a:solidFill>
                  <a:srgbClr val="000000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Istanbul Retail Sales Analysis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84185" y="2304752"/>
            <a:ext cx="110233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Customer and transaction data, 2021–2023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4185" y="2836466"/>
            <a:ext cx="11607510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00000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Source: supplied Istanbul retail transaction dataset.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2191695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025504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METHOD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6390" y="731837"/>
            <a:ext cx="6873009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4" name="Text 2"/>
          <p:cNvSpPr/>
          <p:nvPr/>
        </p:nvSpPr>
        <p:spPr>
          <a:xfrm>
            <a:off x="406390" y="1195070"/>
            <a:ext cx="6873108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Dataset and calculation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06390" y="1864320"/>
            <a:ext cx="6873108" cy="1006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The dataset contains 99,457 transactions from 10 Istanbul shopping malls between 2021 and 2023.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Each transaction has a unique invoice number.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6390" y="4901505"/>
            <a:ext cx="343655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CALCULATIONS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6390" y="5176540"/>
            <a:ext cx="3207960" cy="94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600" b="1" dirty="0">
                <a:solidFill>
                  <a:srgbClr val="171C24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Products sold</a:t>
            </a: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= sum of quantity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b="1" dirty="0">
                <a:solidFill>
                  <a:srgbClr val="171C24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0"/>
              </a:rPr>
              <a:t>Revenue</a:t>
            </a: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 = sum of quantity × unit price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71538" y="4901505"/>
            <a:ext cx="3207960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AGE GROUPS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71538" y="5176540"/>
            <a:ext cx="3207960" cy="1057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18–30</a:t>
            </a:r>
            <a:endParaRPr lang="en-US" sz="1600" dirty="0"/>
          </a:p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31–50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51+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6390" y="6417866"/>
            <a:ext cx="702550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Source: supplied Istanbul retail transaction dataset.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51102" y="279399"/>
            <a:ext cx="4338735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DATASET</a:t>
            </a:r>
            <a:endParaRPr lang="en-US" sz="10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379" y="496888"/>
            <a:ext cx="3743926" cy="608171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02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836594" y="4895552"/>
            <a:ext cx="12700" cy="1338560"/>
          </a:xfrm>
          <a:prstGeom prst="rect">
            <a:avLst/>
          </a:prstGeom>
          <a:solidFill>
            <a:srgbClr val="AEB8C2"/>
          </a:solidFill>
          <a:ln/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B5B310-20D0-ADCC-5703-907C51711034}"/>
              </a:ext>
            </a:extLst>
          </p:cNvPr>
          <p:cNvSpPr/>
          <p:nvPr/>
        </p:nvSpPr>
        <p:spPr>
          <a:xfrm>
            <a:off x="11094098" y="6584652"/>
            <a:ext cx="1017037" cy="211634"/>
          </a:xfrm>
          <a:prstGeom prst="rect">
            <a:avLst/>
          </a:prstGeom>
          <a:solidFill>
            <a:srgbClr val="F8F5EE"/>
          </a:solidFill>
          <a:ln>
            <a:solidFill>
              <a:srgbClr val="F8F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EXHIBIT 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Overall results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06390" y="3291086"/>
            <a:ext cx="2692333" cy="6350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7" name="Text 5"/>
          <p:cNvSpPr/>
          <p:nvPr/>
        </p:nvSpPr>
        <p:spPr>
          <a:xfrm>
            <a:off x="406390" y="3621286"/>
            <a:ext cx="248913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kern="100" spc="-25" dirty="0">
                <a:solidFill>
                  <a:srgbClr val="2857D6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99,457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06390" y="4307086"/>
            <a:ext cx="248913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Transactions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03515" y="3291086"/>
            <a:ext cx="2692333" cy="63500"/>
          </a:xfrm>
          <a:prstGeom prst="rect">
            <a:avLst/>
          </a:prstGeom>
          <a:solidFill>
            <a:srgbClr val="0B7D6F"/>
          </a:solidFill>
          <a:ln/>
        </p:spPr>
      </p:sp>
      <p:sp>
        <p:nvSpPr>
          <p:cNvPr id="10" name="Text 8"/>
          <p:cNvSpPr/>
          <p:nvPr/>
        </p:nvSpPr>
        <p:spPr>
          <a:xfrm>
            <a:off x="3403515" y="3621286"/>
            <a:ext cx="248913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kern="100" spc="-25" dirty="0">
                <a:solidFill>
                  <a:srgbClr val="0B7D6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298,712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403515" y="4307086"/>
            <a:ext cx="248913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Products sold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640" y="3291086"/>
            <a:ext cx="5384665" cy="63500"/>
          </a:xfrm>
          <a:prstGeom prst="rect">
            <a:avLst/>
          </a:prstGeom>
          <a:solidFill>
            <a:srgbClr val="EFA1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640" y="3621286"/>
            <a:ext cx="5384665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b="1" kern="100" spc="-25" dirty="0">
                <a:solidFill>
                  <a:srgbClr val="2857D6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TL 251,505,794.25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400640" y="4307086"/>
            <a:ext cx="538466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Total revenue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6390" y="6417965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Source: supplied Istanbul retail transaction dataset.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03</a:t>
            </a:r>
            <a:endParaRPr lang="en-US" sz="10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7CE99F-96B7-0785-A364-FC50D07AB5A8}"/>
              </a:ext>
            </a:extLst>
          </p:cNvPr>
          <p:cNvSpPr/>
          <p:nvPr/>
        </p:nvSpPr>
        <p:spPr>
          <a:xfrm>
            <a:off x="11094098" y="6584652"/>
            <a:ext cx="1017037" cy="211634"/>
          </a:xfrm>
          <a:prstGeom prst="rect">
            <a:avLst/>
          </a:prstGeom>
          <a:solidFill>
            <a:srgbClr val="F8F5EE"/>
          </a:solidFill>
          <a:ln>
            <a:solidFill>
              <a:srgbClr val="F8F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CUSTOMER MIX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EXHIBIT 02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Results by gender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1680170"/>
            <a:ext cx="11785305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The female group has higher totals in this dataset.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2108895"/>
          <a:ext cx="11378917" cy="1618218"/>
        </p:xfrm>
        <a:graphic>
          <a:graphicData uri="http://schemas.openxmlformats.org/drawingml/2006/table">
            <a:tbl>
              <a:tblPr/>
              <a:tblGrid>
                <a:gridCol w="2503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5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3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78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Group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Transactions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Products sold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Revenue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Share of transactions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Female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59,482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178,659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TL 150,207,136.02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59.81%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Male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39,975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120,053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TL 101,298,658.23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40.19%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06390" y="6417866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Source: supplied Istanbul retail transaction dataset.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04</a:t>
            </a:r>
            <a:endParaRPr lang="en-US" sz="10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085B2-F90F-C3D0-5CE3-A9F6B371A39C}"/>
              </a:ext>
            </a:extLst>
          </p:cNvPr>
          <p:cNvSpPr/>
          <p:nvPr/>
        </p:nvSpPr>
        <p:spPr>
          <a:xfrm>
            <a:off x="11094098" y="6584652"/>
            <a:ext cx="1017037" cy="211634"/>
          </a:xfrm>
          <a:prstGeom prst="rect">
            <a:avLst/>
          </a:prstGeom>
          <a:solidFill>
            <a:srgbClr val="F8F5EE"/>
          </a:solidFill>
          <a:ln>
            <a:solidFill>
              <a:srgbClr val="F8F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CUSTOMER MIX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EXHIBIT 03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Results by age group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1680170"/>
            <a:ext cx="11785305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The 31–50 group has the highest totals.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2108895"/>
          <a:ext cx="11378916" cy="1793433"/>
        </p:xfrm>
        <a:graphic>
          <a:graphicData uri="http://schemas.openxmlformats.org/drawingml/2006/table">
            <a:tbl>
              <a:tblPr/>
              <a:tblGrid>
                <a:gridCol w="2730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6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1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Age group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Transactions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Products sold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Revenue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18–30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25,024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75,172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TL 63,047,402.11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31–50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38,332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115,006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TL 97,150,259.90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51+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36,101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108,534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TL 91,308,132.24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06390" y="6417866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Source: supplied Istanbul retail transaction dataset.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05</a:t>
            </a:r>
            <a:endParaRPr lang="en-US" sz="10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784030-62DF-A9FD-4325-1B2FAB40552B}"/>
              </a:ext>
            </a:extLst>
          </p:cNvPr>
          <p:cNvSpPr/>
          <p:nvPr/>
        </p:nvSpPr>
        <p:spPr>
          <a:xfrm>
            <a:off x="11094098" y="6584652"/>
            <a:ext cx="1017037" cy="211634"/>
          </a:xfrm>
          <a:prstGeom prst="rect">
            <a:avLst/>
          </a:prstGeom>
          <a:solidFill>
            <a:srgbClr val="F8F5EE"/>
          </a:solidFill>
          <a:ln>
            <a:solidFill>
              <a:srgbClr val="F8F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48428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PRODUCT MIX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3066" y="336153"/>
            <a:ext cx="3742140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EXHIBIT 04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Revenue by product category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1680170"/>
            <a:ext cx="11785305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Clothing has the highest revenue, followed by shoes and technology. This is revenue, not profit.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0" y="2083495"/>
            <a:ext cx="10667733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6390" y="5597823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Source: supplied Istanbul retail transaction dataset.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06</a:t>
            </a:r>
            <a:endParaRPr lang="en-US" sz="10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4A6DC1-69DF-C32A-6B1F-9648A36F625C}"/>
              </a:ext>
            </a:extLst>
          </p:cNvPr>
          <p:cNvSpPr/>
          <p:nvPr/>
        </p:nvSpPr>
        <p:spPr>
          <a:xfrm>
            <a:off x="11094098" y="6584652"/>
            <a:ext cx="1017037" cy="211634"/>
          </a:xfrm>
          <a:prstGeom prst="rect">
            <a:avLst/>
          </a:prstGeom>
          <a:solidFill>
            <a:srgbClr val="F8F5EE"/>
          </a:solidFill>
          <a:ln>
            <a:solidFill>
              <a:srgbClr val="F8F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48428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PAYMENT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3066" y="336153"/>
            <a:ext cx="3742140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EXHIBIT 05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2176839"/>
            <a:ext cx="1137891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Payment methods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2846090"/>
            <a:ext cx="11785305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Cash is used most often. The average transaction values are similar.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3300214"/>
          <a:ext cx="11378915" cy="1793433"/>
        </p:xfrm>
        <a:graphic>
          <a:graphicData uri="http://schemas.openxmlformats.org/drawingml/2006/table">
            <a:tbl>
              <a:tblPr/>
              <a:tblGrid>
                <a:gridCol w="2161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3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44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1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Method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Transactions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Share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Revenue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Average transaction value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Cash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44,447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44.69%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TL 112,832,243.02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TL 2,538.58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5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Credit Card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34,931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35.12%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TL 88,077,123.77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TL 2,521.46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Debit Card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20,079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20.19%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TL 50,596,427.46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1C24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0"/>
                        </a:rPr>
                        <a:t>TL 2,519.87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406390" y="6417965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Source: supplied Istanbul retail transaction dataset.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07</a:t>
            </a:r>
            <a:endParaRPr lang="en-US" sz="10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B53DE2-10B6-8F67-ED65-D73C3FFAE8E5}"/>
              </a:ext>
            </a:extLst>
          </p:cNvPr>
          <p:cNvSpPr/>
          <p:nvPr/>
        </p:nvSpPr>
        <p:spPr>
          <a:xfrm>
            <a:off x="11094098" y="6584652"/>
            <a:ext cx="1017037" cy="211634"/>
          </a:xfrm>
          <a:prstGeom prst="rect">
            <a:avLst/>
          </a:prstGeom>
          <a:solidFill>
            <a:srgbClr val="F8F5EE"/>
          </a:solidFill>
          <a:ln>
            <a:solidFill>
              <a:srgbClr val="F8F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11822" cy="6858000"/>
          </a:xfrm>
          <a:prstGeom prst="rect">
            <a:avLst/>
          </a:prstGeom>
          <a:solidFill>
            <a:srgbClr val="F8F5EE"/>
          </a:solidFill>
          <a:ln/>
        </p:spPr>
      </p:sp>
      <p:sp>
        <p:nvSpPr>
          <p:cNvPr id="3" name="Text 1"/>
          <p:cNvSpPr/>
          <p:nvPr/>
        </p:nvSpPr>
        <p:spPr>
          <a:xfrm>
            <a:off x="482588" y="491331"/>
            <a:ext cx="6629234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00000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0"/>
              </a:rPr>
              <a:t>CONCLUSION AND LIMITS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2588" y="2853015"/>
            <a:ext cx="6146646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0"/>
              </a:rPr>
              <a:t>Conclusion and limits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82588" y="3522266"/>
            <a:ext cx="6146646" cy="1638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The female group has higher transaction, product, and revenue totals.</a:t>
            </a:r>
            <a:endParaRPr lang="en-US" sz="1600" dirty="0"/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Ages 31–50 have the highest totals among the age groups.</a:t>
            </a:r>
            <a:endParaRPr lang="en-US" sz="1600" dirty="0"/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Clothing has the highest category revenue.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0"/>
              </a:rPr>
              <a:t>Cash is the most-used payment method.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2588" y="5287963"/>
            <a:ext cx="6146646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1350"/>
              </a:spcAft>
              <a:buNone/>
            </a:pPr>
            <a:r>
              <a:rPr lang="en-US" sz="1050" kern="100" spc="10" dirty="0">
                <a:solidFill>
                  <a:srgbClr val="00000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The dataset has no product cost information, so profit and profit margin cannot be calculated.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00000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This data does not show why customers buy, and it does not show that any action would raise sales.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2588" y="6316266"/>
            <a:ext cx="662923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10" dirty="0">
                <a:solidFill>
                  <a:srgbClr val="00000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0"/>
              </a:rPr>
              <a:t>Source: supplied Istanbul retail transaction dataset.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2" y="0"/>
            <a:ext cx="5079873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392</Words>
  <Application>Microsoft Office PowerPoint</Application>
  <PresentationFormat>Widescreen</PresentationFormat>
  <Paragraphs>121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IBM Plex Mono Medium</vt:lpstr>
      <vt:lpstr>Arial</vt:lpstr>
      <vt:lpstr>IBM Plex Mono SemiBold</vt:lpstr>
      <vt:lpstr>Barlow Condensed Bold</vt:lpstr>
      <vt:lpstr>Source Sans 3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Sammed Badde</dc:creator>
  <cp:lastModifiedBy>Sammed Badde</cp:lastModifiedBy>
  <cp:revision>3</cp:revision>
  <dcterms:created xsi:type="dcterms:W3CDTF">2026-10-28T15:00:10Z</dcterms:created>
  <dcterms:modified xsi:type="dcterms:W3CDTF">2026-10-28T15:04:13Z</dcterms:modified>
</cp:coreProperties>
</file>